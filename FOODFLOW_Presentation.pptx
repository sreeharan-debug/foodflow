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828800"/>
            <a:ext cx="8531352" cy="32004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2011680"/>
            <a:ext cx="7616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Inter"/>
              </a:defRPr>
            </a:pPr>
            <a:r>
              <a:t>INTERNSHIP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468880"/>
            <a:ext cx="7616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Outfit"/>
              </a:defRPr>
            </a:pPr>
            <a:r>
              <a:t>FOODFLOW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474720"/>
            <a:ext cx="76169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CA3AF"/>
                </a:solidFill>
                <a:latin typeface="Inter"/>
              </a:defRPr>
            </a:pPr>
            <a:r>
              <a:t>Cloud-Based Multi-Vendor Food Ordering SaaS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CA3AF"/>
                </a:solidFill>
                <a:latin typeface="Inter"/>
              </a:defRPr>
            </a:pPr>
            <a:r>
              <a:t>SUBMITTED BY</a:t>
            </a:r>
          </a:p>
          <a:p>
            <a:pPr>
              <a:defRPr sz="1400" b="1">
                <a:solidFill>
                  <a:srgbClr val="FFFFFF"/>
                </a:solidFill>
                <a:latin typeface="Outfit"/>
              </a:defRPr>
            </a:pPr>
            <a:r>
              <a:t>Sreeharan M Anilkumar</a:t>
            </a:r>
          </a:p>
          <a:p>
            <a:pPr>
              <a:defRPr sz="1000">
                <a:solidFill>
                  <a:srgbClr val="9CA3AF"/>
                </a:solidFill>
                <a:latin typeface="Inter"/>
              </a:defRPr>
            </a:pPr>
            <a:r>
              <a:t>Reg No: MEC23AIM006</a:t>
            </a:r>
            <a:br/>
            <a:r>
              <a:t>B.Tech, Artificial Intelligence &amp;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53035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CA3AF"/>
                </a:solidFill>
                <a:latin typeface="Inter"/>
              </a:defRPr>
            </a:pPr>
            <a:r>
              <a:t>HOST ORGANIZATION</a:t>
            </a:r>
          </a:p>
          <a:p>
            <a:pPr>
              <a:defRPr sz="1400" b="1">
                <a:solidFill>
                  <a:srgbClr val="FFFFFF"/>
                </a:solidFill>
                <a:latin typeface="Outfit"/>
              </a:defRPr>
            </a:pPr>
            <a:r>
              <a:t>Bairuha Tech</a:t>
            </a:r>
          </a:p>
          <a:p>
            <a:pPr>
              <a:defRPr sz="1000">
                <a:solidFill>
                  <a:srgbClr val="9CA3AF"/>
                </a:solidFill>
                <a:latin typeface="Inter"/>
              </a:defRPr>
            </a:pPr>
            <a:r>
              <a:t>Mentors: Ambika Raj, Ressaan</a:t>
            </a:r>
            <a:br/>
            <a:r>
              <a:t>Platform: Next.js &amp; NestJS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Inter"/>
              </a:defRPr>
            </a:pPr>
            <a:r>
              <a:t>FOODFLOW 4.1  |  B.Tech AI &amp; ML Internship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Inter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Outfit"/>
              </a:defRPr>
            </a:pPr>
            <a:r>
              <a:t>Project Overview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3657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Inter"/>
              </a:defRPr>
            </a:pPr>
            <a:r>
              <a:t>FOODFLOW 4.1  |  B.Tech AI &amp; ML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Outfit"/>
              </a:defRPr>
            </a:pPr>
            <a:r>
              <a:t>The Industry Challenge</a:t>
            </a:r>
          </a:p>
          <a:p>
            <a:br/>
            <a:pPr>
              <a:defRPr sz="1300" b="1">
                <a:solidFill>
                  <a:srgbClr val="FFFFFF"/>
                </a:solidFill>
                <a:latin typeface="Inter"/>
              </a:defRPr>
            </a:pPr>
            <a:r>
              <a:t>• Fragmented Workflows: </a:t>
            </a:r>
          </a:p>
          <a:p>
            <a:pPr>
              <a:defRPr sz="1150">
                <a:solidFill>
                  <a:srgbClr val="9CA3AF"/>
                </a:solidFill>
                <a:latin typeface="Inter"/>
              </a:defRPr>
            </a:pPr>
            <a:r>
              <a:t>Local restaurant merchants struggle with isolated menus, complex ordering interfaces, and offline accounting inefficiencies.</a:t>
            </a:r>
          </a:p>
          <a:p>
            <a:br/>
            <a:pPr>
              <a:defRPr sz="1300" b="1">
                <a:solidFill>
                  <a:srgbClr val="FFFFFF"/>
                </a:solidFill>
                <a:latin typeface="Inter"/>
              </a:defRPr>
            </a:pPr>
            <a:r>
              <a:t>• Row-Level Data Security: </a:t>
            </a:r>
          </a:p>
          <a:p>
            <a:pPr>
              <a:defRPr sz="1150">
                <a:solidFill>
                  <a:srgbClr val="9CA3AF"/>
                </a:solidFill>
                <a:latin typeface="Inter"/>
              </a:defRPr>
            </a:pPr>
            <a:r>
              <a:t>Lack of proper multi-tenant boundaries on sharing databases lead to cross-tenant data leakage risks.</a:t>
            </a:r>
          </a:p>
          <a:p>
            <a:br/>
            <a:pPr>
              <a:defRPr sz="1300" b="1">
                <a:solidFill>
                  <a:srgbClr val="FFFFFF"/>
                </a:solidFill>
                <a:latin typeface="Inter"/>
              </a:defRPr>
            </a:pPr>
            <a:r>
              <a:t>• Static Static Tracking: </a:t>
            </a:r>
          </a:p>
          <a:p>
            <a:pPr>
              <a:defRPr sz="1150">
                <a:solidFill>
                  <a:srgbClr val="9CA3AF"/>
                </a:solidFill>
                <a:latin typeface="Inter"/>
              </a:defRPr>
            </a:pPr>
            <a:r>
              <a:t>Customers face static, non-realtime food dispatch experiences without dynamic downloadable receipts.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  <a:latin typeface="Outfit"/>
              </a:defRPr>
            </a:pPr>
            <a:r>
              <a:t>Real-Time WebSocket Streams</a:t>
            </a:r>
          </a:p>
          <a:p>
            <a:br/>
            <a:pPr>
              <a:defRPr sz="1200">
                <a:solidFill>
                  <a:srgbClr val="9CA3AF"/>
                </a:solidFill>
                <a:latin typeface="Inter"/>
              </a:defRPr>
            </a:pPr>
            <a:r>
              <a:t>Enables instantaneous state synchronization between customers and vendors using Socket.IO, eliminating manual browser reloads.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30352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Outfit"/>
              </a:defRPr>
            </a:pPr>
            <a:r>
              <a:t>Decoupled Multi-Portal Strategy</a:t>
            </a:r>
          </a:p>
          <a:p>
            <a:br/>
            <a:pPr>
              <a:defRPr sz="1200">
                <a:solidFill>
                  <a:srgbClr val="9CA3AF"/>
                </a:solidFill>
                <a:latin typeface="Inter"/>
              </a:defRPr>
            </a:pPr>
            <a:r>
              <a:t>Dedicated portals specifically tailored to the workflows of Customer, Restaurant Vendor Admins, and platform Super Administrators.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Outfit"/>
              </a:defRPr>
            </a:pPr>
            <a:r>
              <a:t>Enterprise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3657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Inter"/>
              </a:defRPr>
            </a:pPr>
            <a:r>
              <a:t>FOODFLOW 4.1  |  B.Tech AI &amp; ML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39496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Outfit"/>
              </a:defRPr>
            </a:pPr>
            <a:r>
              <a:t>Frontend Application</a:t>
            </a:r>
          </a:p>
          <a:p>
            <a:pPr>
              <a:lnSpc>
                <a:spcPct val="125000"/>
              </a:lnSpc>
              <a:defRPr sz="1050">
                <a:solidFill>
                  <a:srgbClr val="FFFFFF"/>
                </a:solidFill>
                <a:latin typeface="Inter"/>
              </a:defRPr>
            </a:pPr>
            <a:r>
              <a:t>Next.js 16/15 (App Router)</a:t>
            </a:r>
            <a:br/>
            <a:r>
              <a:t>TypeScript &amp; React 19</a:t>
            </a:r>
            <a:br/>
            <a:r>
              <a:t>Tailwind CSS v4</a:t>
            </a:r>
            <a:br/>
            <a:r>
              <a:t>Framer Motion (Animations)</a:t>
            </a:r>
            <a:br/>
            <a:r>
              <a:t>Recharts (Analytics Charts)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9496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  <a:latin typeface="Outfit"/>
              </a:defRPr>
            </a:pPr>
            <a:r>
              <a:t>Backend Server API</a:t>
            </a:r>
          </a:p>
          <a:p>
            <a:pPr>
              <a:lnSpc>
                <a:spcPct val="125000"/>
              </a:lnSpc>
              <a:defRPr sz="1050">
                <a:solidFill>
                  <a:srgbClr val="FFFFFF"/>
                </a:solidFill>
                <a:latin typeface="Inter"/>
              </a:defRPr>
            </a:pPr>
            <a:r>
              <a:t>NestJS 11 Gateway</a:t>
            </a:r>
            <a:br/>
            <a:r>
              <a:t>Node.js Runtime</a:t>
            </a:r>
            <a:br/>
            <a:r>
              <a:t>Socket.IO (WebSockets)</a:t>
            </a:r>
            <a:br/>
            <a:r>
              <a:t>RxJS Task Scheduling</a:t>
            </a:r>
            <a:br/>
            <a:r>
              <a:t>Passport.js Authentication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539496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Outfit"/>
              </a:defRPr>
            </a:pPr>
            <a:r>
              <a:t>Database &amp; Security</a:t>
            </a:r>
          </a:p>
          <a:p>
            <a:pPr>
              <a:lnSpc>
                <a:spcPct val="125000"/>
              </a:lnSpc>
              <a:defRPr sz="1050">
                <a:solidFill>
                  <a:srgbClr val="FFFFFF"/>
                </a:solidFill>
                <a:latin typeface="Inter"/>
              </a:defRPr>
            </a:pPr>
            <a:r>
              <a:t>PostgreSQL 16 relational DB</a:t>
            </a:r>
            <a:br/>
            <a:r>
              <a:t>Neon Cloud Hosting</a:t>
            </a:r>
            <a:br/>
            <a:r>
              <a:t>Prisma ORM database driver</a:t>
            </a:r>
            <a:br/>
            <a:r>
              <a:t>JWT Access &amp; Refresh token rotation</a:t>
            </a:r>
            <a:br/>
            <a:r>
              <a:t>Google OAuth 2.0 federation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39496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Outfit"/>
              </a:defRPr>
            </a:pPr>
            <a:r>
              <a:t>Third-Party Integrations</a:t>
            </a:r>
          </a:p>
          <a:p>
            <a:pPr>
              <a:lnSpc>
                <a:spcPct val="125000"/>
              </a:lnSpc>
              <a:defRPr sz="1050">
                <a:solidFill>
                  <a:srgbClr val="FFFFFF"/>
                </a:solidFill>
                <a:latin typeface="Inter"/>
              </a:defRPr>
            </a:pPr>
            <a:r>
              <a:t>Razorpay Checkout Gateway</a:t>
            </a:r>
            <a:br/>
            <a:r>
              <a:t>Resend Email Delivery API</a:t>
            </a:r>
            <a:br/>
            <a:r>
              <a:t>Cloudinary Media CDN</a:t>
            </a:r>
            <a:br/>
            <a:r>
              <a:t>Vercel (Frontend Delivery)</a:t>
            </a:r>
            <a:br/>
            <a:r>
              <a:t>Railway (Backend Container Hosting)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Outfit"/>
              </a:defRPr>
            </a:pPr>
            <a:r>
              <a:t>System 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3657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Inter"/>
              </a:defRPr>
            </a:pPr>
            <a:r>
              <a:t>FOODFLOW 4.1  |  B.Tech AI &amp; ML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Outfit"/>
              </a:defRPr>
            </a:pPr>
            <a:r>
              <a:t>Decoupled Architecture Flow</a:t>
            </a:r>
          </a:p>
          <a:p>
            <a:br/>
            <a:pPr>
              <a:defRPr sz="1300" b="1">
                <a:solidFill>
                  <a:srgbClr val="FFFFFF"/>
                </a:solidFill>
                <a:latin typeface="Inter"/>
              </a:defRPr>
            </a:pPr>
            <a:r>
              <a:t>• Modular Boundaries: </a:t>
            </a:r>
          </a:p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The backend is segmented into isolated domains with NestJS modules (Auth, Orders, Payments, Users).</a:t>
            </a:r>
          </a:p>
          <a:p>
            <a:br/>
            <a:pPr>
              <a:defRPr sz="1300" b="1">
                <a:solidFill>
                  <a:srgbClr val="FFFFFF"/>
                </a:solidFill>
                <a:latin typeface="Inter"/>
              </a:defRPr>
            </a:pPr>
            <a:r>
              <a:t>• Stateless Guarding: </a:t>
            </a:r>
          </a:p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Next.js routes verify authenticated JWT states. Route access is controlled by custom NestJS role-based guards.</a:t>
            </a:r>
          </a:p>
          <a:p>
            <a:br/>
            <a:pPr>
              <a:defRPr sz="1300" b="1">
                <a:solidFill>
                  <a:srgbClr val="FFFFFF"/>
                </a:solidFill>
                <a:latin typeface="Inter"/>
              </a:defRPr>
            </a:pPr>
            <a:r>
              <a:t>• Cloud-Scale Storage: </a:t>
            </a:r>
          </a:p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Type-safe database interactions are handled via Prisma Client, connecting directly to PostgreSQL on Neon Cloud.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645920"/>
            <a:ext cx="2560320" cy="9144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737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Outfit"/>
              </a:defRPr>
            </a:pPr>
            <a:r>
              <a:t>Next.js Applications</a:t>
            </a:r>
          </a:p>
          <a:p>
            <a:pPr algn="ctr">
              <a:defRPr sz="850">
                <a:solidFill>
                  <a:srgbClr val="9CA3AF"/>
                </a:solidFill>
                <a:latin typeface="Inter"/>
              </a:defRPr>
            </a:pPr>
            <a:r>
              <a:t>Customer / Vendor / Super-Admin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3108960"/>
            <a:ext cx="2560320" cy="1371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320040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Outfit"/>
              </a:defRPr>
            </a:pPr>
            <a:r>
              <a:t>NestJS API &amp; WS</a:t>
            </a:r>
          </a:p>
          <a:p>
            <a:pPr algn="ctr">
              <a:defRPr sz="850">
                <a:solidFill>
                  <a:srgbClr val="9CA3AF"/>
                </a:solidFill>
                <a:latin typeface="Inter"/>
              </a:defRPr>
            </a:pPr>
            <a:r>
              <a:t>Authentication, Order Processors, Socket.IO WebSockets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5029200"/>
            <a:ext cx="2560320" cy="9144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5120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Outfit"/>
              </a:defRPr>
            </a:pPr>
            <a:r>
              <a:t>PostgreSQL Database</a:t>
            </a:r>
          </a:p>
          <a:p>
            <a:pPr algn="ctr">
              <a:defRPr sz="850">
                <a:solidFill>
                  <a:srgbClr val="9CA3AF"/>
                </a:solidFill>
                <a:latin typeface="Inter"/>
              </a:defRPr>
            </a:pPr>
            <a:r>
              <a:t>Neon Cloud + Prisma 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286000"/>
            <a:ext cx="2560320" cy="1097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23774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Outfit"/>
              </a:defRPr>
            </a:pPr>
            <a:r>
              <a:t>External Cloud Services</a:t>
            </a:r>
          </a:p>
          <a:p>
            <a:pPr algn="ctr">
              <a:defRPr sz="850">
                <a:solidFill>
                  <a:srgbClr val="9CA3AF"/>
                </a:solidFill>
                <a:latin typeface="Inter"/>
              </a:defRPr>
            </a:pPr>
            <a:r>
              <a:t>Razorpay Payment Gateway</a:t>
            </a:r>
            <a:br/>
            <a:r>
              <a:t>Resend Transactional Email</a:t>
            </a:r>
            <a:br/>
            <a:r>
              <a:t>Google OAuth Credentials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2560320"/>
            <a:ext cx="9144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3720" y="4480560"/>
            <a:ext cx="91440" cy="54863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3566160"/>
            <a:ext cx="731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Outfit"/>
              </a:defRPr>
            </a:pPr>
            <a:r>
              <a:t>Module A: The Customer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3657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Inter"/>
              </a:defRPr>
            </a:pPr>
            <a:r>
              <a:t>FOODFLOW 4.1  |  B.Tech AI &amp; ML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Outfit"/>
              </a:defRPr>
            </a:pPr>
            <a:r>
              <a:t>User Discovery &amp; Checkout</a:t>
            </a:r>
          </a:p>
          <a:p>
            <a:br/>
            <a:pPr>
              <a:defRPr sz="1300" b="1">
                <a:solidFill>
                  <a:srgbClr val="FFFFFF"/>
                </a:solidFill>
                <a:latin typeface="Inter"/>
              </a:defRPr>
            </a:pPr>
            <a:r>
              <a:t>• Dynamic Navigation strips: </a:t>
            </a:r>
          </a:p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Horizontally scrollable categories (Biryanis, Arabian, Beverages) with A-Z sort filters and Veg-Only selectors.</a:t>
            </a:r>
          </a:p>
          <a:p>
            <a:br/>
            <a:pPr>
              <a:defRPr sz="1300" b="1">
                <a:solidFill>
                  <a:srgbClr val="FFFFFF"/>
                </a:solidFill>
                <a:latin typeface="Inter"/>
              </a:defRPr>
            </a:pPr>
            <a:r>
              <a:t>• Local State Shopping Cart: </a:t>
            </a:r>
          </a:p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Maintains active cart items locally, validating and applying coupon promotional logic securely against backend REST endpoints.</a:t>
            </a:r>
          </a:p>
          <a:p>
            <a:br/>
            <a:pPr>
              <a:defRPr sz="1300" b="1">
                <a:solidFill>
                  <a:srgbClr val="FFFFFF"/>
                </a:solidFill>
                <a:latin typeface="Inter"/>
              </a:defRPr>
            </a:pPr>
            <a:r>
              <a:t>• Secured checkout modal: </a:t>
            </a:r>
          </a:p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Integrates native Razorpay checkout overlay processing payment signatures and confirming transactions.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855F7"/>
                </a:solidFill>
                <a:latin typeface="Outfit"/>
              </a:defRPr>
            </a:pPr>
            <a:r>
              <a:t>WebSocket-Driven Live Tracking</a:t>
            </a:r>
          </a:p>
          <a:p>
            <a:br/>
            <a:pPr>
              <a:defRPr sz="1300">
                <a:solidFill>
                  <a:srgbClr val="FFFFFF"/>
                </a:solidFill>
                <a:latin typeface="Inter"/>
              </a:defRPr>
            </a:pPr>
            <a:r>
              <a:t>Real-Time Order Tracking replaces manual browser refreshes with Socket.IO channels. Active status updates are pushed instantly from the kitchen dashboard.</a:t>
            </a:r>
          </a:p>
          <a:p>
            <a:br/>
            <a:pPr>
              <a:defRPr sz="1200" b="1">
                <a:solidFill>
                  <a:srgbClr val="06B6D4"/>
                </a:solidFill>
                <a:latin typeface="Inter"/>
              </a:defRPr>
            </a:pPr>
            <a:r>
              <a:t>Integrated Order Tracking Timeline:</a:t>
            </a:r>
          </a:p>
          <a:p>
            <a:pPr>
              <a:defRPr sz="1150" b="1">
                <a:solidFill>
                  <a:srgbClr val="10B981"/>
                </a:solidFill>
                <a:latin typeface="Outfit"/>
              </a:defRPr>
            </a:pPr>
            <a:r>
              <a:t>PENDING  ➔  CONFIRMED  ➔  PREPARING  ➔  OUT_FOR_DELIVERY  ➔  DELIVERED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Outfit"/>
              </a:defRPr>
            </a:pPr>
            <a:r>
              <a:t>Module B: Restaurant Admin Console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3657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Inter"/>
              </a:defRPr>
            </a:pPr>
            <a:r>
              <a:t>FOODFLOW 4.1  |  B.Tech AI &amp; ML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Outfit"/>
              </a:defRPr>
            </a:pPr>
            <a:r>
              <a:t>Store Operations &amp; Live Boards</a:t>
            </a:r>
          </a:p>
          <a:p>
            <a:br/>
            <a:pPr>
              <a:defRPr sz="1300" b="1">
                <a:solidFill>
                  <a:srgbClr val="FFFFFF"/>
                </a:solidFill>
                <a:latin typeface="Inter"/>
              </a:defRPr>
            </a:pPr>
            <a:r>
              <a:t>• Live Incoming Order Board: </a:t>
            </a:r>
          </a:p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Real-time dispatch boards listen to incoming WebSockets, triggering immediate audio-visual alerts on screen.</a:t>
            </a:r>
          </a:p>
          <a:p>
            <a:br/>
            <a:pPr>
              <a:defRPr sz="1300" b="1">
                <a:solidFill>
                  <a:srgbClr val="FFFFFF"/>
                </a:solidFill>
                <a:latin typeface="Inter"/>
              </a:defRPr>
            </a:pPr>
            <a:r>
              <a:t>• Dynamic Menu Builder: </a:t>
            </a:r>
          </a:p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Perform full CRUD on dishes, adjust category tags, and toggle availability state dynamically.</a:t>
            </a:r>
          </a:p>
          <a:p>
            <a:br/>
            <a:pPr>
              <a:defRPr sz="1300" b="1">
                <a:solidFill>
                  <a:srgbClr val="FFFFFF"/>
                </a:solidFill>
                <a:latin typeface="Inter"/>
              </a:defRPr>
            </a:pPr>
            <a:r>
              <a:t>• Coupon Creator Panel: </a:t>
            </a:r>
          </a:p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Enables store admins to create discounts limited to their specific restaurant items.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  <a:latin typeface="Outfit"/>
              </a:defRPr>
            </a:pPr>
            <a:r>
              <a:t>Business Intelligence Dashboard</a:t>
            </a:r>
          </a:p>
          <a:p>
            <a:br/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Integrated with Recharts, vendors monitor real-time sales and order metrics dynamically, including:</a:t>
            </a:r>
          </a:p>
          <a:p>
            <a:pPr>
              <a:lnSpc>
                <a:spcPct val="130000"/>
              </a:lnSpc>
              <a:defRPr sz="1150">
                <a:solidFill>
                  <a:srgbClr val="9CA3AF"/>
                </a:solidFill>
                <a:latin typeface="Inter"/>
              </a:defRPr>
            </a:pPr>
            <a:r>
              <a:t>• Gross Analytics Sales: ₹ 24K+ (Overall platform orders)</a:t>
            </a:r>
          </a:p>
          <a:p>
            <a:pPr>
              <a:lnSpc>
                <a:spcPct val="130000"/>
              </a:lnSpc>
              <a:defRPr sz="1150">
                <a:solidFill>
                  <a:srgbClr val="9CA3AF"/>
                </a:solidFill>
                <a:latin typeface="Inter"/>
              </a:defRPr>
            </a:pPr>
            <a:r>
              <a:t>• Orders Processed: 37 Completed Deliveries</a:t>
            </a:r>
          </a:p>
          <a:p>
            <a:pPr>
              <a:lnSpc>
                <a:spcPct val="130000"/>
              </a:lnSpc>
              <a:defRPr sz="1150">
                <a:solidFill>
                  <a:srgbClr val="9CA3AF"/>
                </a:solidFill>
                <a:latin typeface="Inter"/>
              </a:defRPr>
            </a:pPr>
            <a:r>
              <a:t>• Revenue Trends: Interactive 7-day revenue charts and popular categories donut charts.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Outfit"/>
              </a:defRPr>
            </a:pPr>
            <a:r>
              <a:t>Module C: Super Admin Command Center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3657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Inter"/>
              </a:defRPr>
            </a:pPr>
            <a:r>
              <a:t>FOODFLOW 4.1  |  B.Tech AI &amp; ML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Inter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502152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22783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Outfit"/>
              </a:defRPr>
            </a:pPr>
            <a:r>
              <a:t>Platform Governance</a:t>
            </a:r>
          </a:p>
          <a:p>
            <a:br/>
            <a:pPr>
              <a:lnSpc>
                <a:spcPct val="130000"/>
              </a:lnSpc>
              <a:defRPr sz="1150">
                <a:solidFill>
                  <a:srgbClr val="FFFFFF"/>
                </a:solidFill>
                <a:latin typeface="Inter"/>
              </a:defRPr>
            </a:pPr>
            <a:r>
              <a:t>Central command dashboard provides total control over system status. Super administrators freeze, suspend, or reactivate customer or merchant accounts globally.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502152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828800"/>
            <a:ext cx="322783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  <a:latin typeface="Outfit"/>
              </a:defRPr>
            </a:pPr>
            <a:r>
              <a:t>Onboarding Pipelines</a:t>
            </a:r>
          </a:p>
          <a:p>
            <a:br/>
            <a:pPr>
              <a:lnSpc>
                <a:spcPct val="130000"/>
              </a:lnSpc>
              <a:defRPr sz="1150">
                <a:solidFill>
                  <a:srgbClr val="FFFFFF"/>
                </a:solidFill>
                <a:latin typeface="Inter"/>
              </a:defRPr>
            </a:pPr>
            <a:r>
              <a:t>All restaurant signups flow through a structured validation pipeline. Super admins audit application data and trigger status updates with simple interface buttons.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502152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322783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  <a:latin typeface="Outfit"/>
              </a:defRPr>
            </a:pPr>
            <a:r>
              <a:t>System Audit Logging</a:t>
            </a:r>
          </a:p>
          <a:p>
            <a:br/>
            <a:pPr>
              <a:lnSpc>
                <a:spcPct val="130000"/>
              </a:lnSpc>
              <a:defRPr sz="1150">
                <a:solidFill>
                  <a:srgbClr val="FFFFFF"/>
                </a:solidFill>
                <a:latin typeface="Inter"/>
              </a:defRPr>
            </a:pPr>
            <a:r>
              <a:t>Every key administrative action—adjusting commission policy, modifying tax rates, blocking users—is written to database system logs for tracking and compliance.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Outfit"/>
              </a:defRPr>
            </a:pPr>
            <a:r>
              <a:t>Cash on Delivery (COD) Razorpay Bypass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3657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Inter"/>
              </a:defRPr>
            </a:pPr>
            <a:r>
              <a:t>FOODFLOW 4.1  |  B.Tech AI &amp; ML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Inter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Outfit"/>
              </a:defRPr>
            </a:pPr>
            <a:r>
              <a:t>The Engineering Challenge</a:t>
            </a:r>
          </a:p>
          <a:p>
            <a:br/>
            <a:pPr>
              <a:defRPr sz="1250" b="1">
                <a:solidFill>
                  <a:srgbClr val="FFFFFF"/>
                </a:solidFill>
                <a:latin typeface="Inter"/>
              </a:defRPr>
            </a:pPr>
            <a:r>
              <a:t>• Razorpay Enforcement Bypass: </a:t>
            </a:r>
          </a:p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Bypasses the digital payment modal cleanly when a customer chooses COD, avoiding user-experience friction.</a:t>
            </a:r>
          </a:p>
          <a:p>
            <a:br/>
            <a:pPr>
              <a:defRPr sz="1250" b="1">
                <a:solidFill>
                  <a:srgbClr val="FFFFFF"/>
                </a:solidFill>
                <a:latin typeface="Inter"/>
              </a:defRPr>
            </a:pPr>
            <a:r>
              <a:t>• Conditional Routing (Next.js): </a:t>
            </a:r>
          </a:p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Frontend intercepts COD selections, skips launching Razorpay SDK scripts, clears the shopping cart, and redirects instantly to order tracking.</a:t>
            </a:r>
          </a:p>
          <a:p>
            <a:br/>
            <a:pPr>
              <a:defRPr sz="1250" b="1">
                <a:solidFill>
                  <a:srgbClr val="FFFFFF"/>
                </a:solidFill>
                <a:latin typeface="Inter"/>
              </a:defRPr>
            </a:pPr>
            <a:r>
              <a:t>• Zero-Record Design Pattern: </a:t>
            </a:r>
          </a:p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Maintains clean relational tables. By skipping payment row instantiation for COD orders, database size is optimized and migrations are avoided.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Outfit"/>
              </a:defRPr>
            </a:pPr>
            <a:r>
              <a:t>1. Selection</a:t>
            </a:r>
          </a:p>
          <a:p>
            <a:pPr>
              <a:defRPr sz="1100">
                <a:solidFill>
                  <a:srgbClr val="FFFFFF"/>
                </a:solidFill>
                <a:latin typeface="Inter"/>
              </a:defRPr>
            </a:pPr>
            <a:r>
              <a:t>Customer selects Cash on Delivery on checkout.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17520"/>
            <a:ext cx="53035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1089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Outfit"/>
              </a:defRPr>
            </a:pPr>
            <a:r>
              <a:t>2. Intercept</a:t>
            </a:r>
          </a:p>
          <a:p>
            <a:pPr>
              <a:defRPr sz="1100">
                <a:solidFill>
                  <a:srgbClr val="FFFFFF"/>
                </a:solidFill>
                <a:latin typeface="Inter"/>
              </a:defRPr>
            </a:pPr>
            <a:r>
              <a:t>Next.js bypasses Razorpay checkout SDK script.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389120"/>
            <a:ext cx="53035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48055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Outfit"/>
              </a:defRPr>
            </a:pPr>
            <a:r>
              <a:t>3. Backend Placement</a:t>
            </a:r>
          </a:p>
          <a:p>
            <a:pPr>
              <a:defRPr sz="1100">
                <a:solidFill>
                  <a:srgbClr val="FFFFFF"/>
                </a:solidFill>
                <a:latin typeface="Inter"/>
              </a:defRPr>
            </a:pPr>
            <a:r>
              <a:t>NestJS stores order state directly as PENDING.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Outfit"/>
              </a:defRPr>
            </a:pPr>
            <a:r>
              <a:t>Dynamic Invoicing &amp; Transactional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3657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Inter"/>
              </a:defRPr>
            </a:pPr>
            <a:r>
              <a:t>FOODFLOW 4.1  |  B.Tech AI &amp; ML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Inter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30352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Outfit"/>
              </a:defRPr>
            </a:pPr>
            <a:r>
              <a:t>A. Order Delivered Trigger</a:t>
            </a:r>
          </a:p>
          <a:p>
            <a:pPr>
              <a:defRPr sz="1050">
                <a:solidFill>
                  <a:srgbClr val="FFFFFF"/>
                </a:solidFill>
                <a:latin typeface="Inter"/>
              </a:defRPr>
            </a:pPr>
            <a:r>
              <a:t>Store admin advances COD order to DELIVERED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530352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346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Outfit"/>
              </a:defRPr>
            </a:pPr>
            <a:r>
              <a:t>B. Automated Capture</a:t>
            </a:r>
          </a:p>
          <a:p>
            <a:pPr>
              <a:defRPr sz="1050">
                <a:solidFill>
                  <a:srgbClr val="FFFFFF"/>
                </a:solidFill>
                <a:latin typeface="Inter"/>
              </a:defRPr>
            </a:pPr>
            <a:r>
              <a:t>NestJS updates order paymentStatus to PAID immediately.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530352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Outfit"/>
              </a:defRPr>
            </a:pPr>
            <a:r>
              <a:t>C. Dynamic PDF Build</a:t>
            </a:r>
          </a:p>
          <a:p>
            <a:pPr>
              <a:defRPr sz="1050">
                <a:solidFill>
                  <a:srgbClr val="FFFFFF"/>
                </a:solidFill>
                <a:latin typeface="Inter"/>
              </a:defRPr>
            </a:pPr>
            <a:r>
              <a:t>InvoiceService builds receipt PDF labeling payment method as 'COD'.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74920"/>
            <a:ext cx="530352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1206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Outfit"/>
              </a:defRPr>
            </a:pPr>
            <a:r>
              <a:t>D. Email Dispatch</a:t>
            </a:r>
          </a:p>
          <a:p>
            <a:pPr>
              <a:defRPr sz="1050">
                <a:solidFill>
                  <a:srgbClr val="FFFFFF"/>
                </a:solidFill>
                <a:latin typeface="Inter"/>
              </a:defRPr>
            </a:pPr>
            <a:r>
              <a:t>Resend API sends invoice PDF attachment to customer inbox.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  <a:latin typeface="Outfit"/>
              </a:defRPr>
            </a:pPr>
            <a:r>
              <a:t>Closing the Operations Loop</a:t>
            </a:r>
          </a:p>
          <a:p>
            <a:br/>
            <a:pPr>
              <a:lnSpc>
                <a:spcPct val="130000"/>
              </a:lnSpc>
              <a:defRPr sz="1300">
                <a:solidFill>
                  <a:srgbClr val="FFFFFF"/>
                </a:solidFill>
                <a:latin typeface="Inter"/>
              </a:defRPr>
            </a:pPr>
            <a:r>
              <a:t>By integrating invoice generation automatically, COD orders achieve parity with online credit card purchases. The system ensures transaction transparency without vendor manual intervention.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303520" cy="192024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9319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Outfit"/>
              </a:defRPr>
            </a:pPr>
            <a:r>
              <a:t>Email Delivery Mockup (Resend API)</a:t>
            </a:r>
          </a:p>
          <a:p>
            <a:br/>
            <a:pPr>
              <a:defRPr sz="1050">
                <a:solidFill>
                  <a:srgbClr val="FFFFFF"/>
                </a:solidFill>
                <a:latin typeface="Inter"/>
              </a:defRPr>
            </a:pPr>
            <a:r>
              <a:t>Subject: Your FoodFlow Invoice - Order Delivered</a:t>
            </a:r>
            <a:br/>
            <a:r>
              <a:t>Attachment: invoice_order_3728.pdf</a:t>
            </a:r>
            <a:br/>
            <a:r>
              <a:t>Message: Thank you for ordering from FoodFlow! Your receipt is attached.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Outfit"/>
              </a:defRPr>
            </a:pPr>
            <a:r>
              <a:t>Technical Challenges &amp; Resolutions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3657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Inter"/>
              </a:defRPr>
            </a:pPr>
            <a:r>
              <a:t>FOODFLOW 4.1  |  B.Tech AI &amp; ML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502152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2278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Outfit"/>
              </a:defRPr>
            </a:pPr>
            <a:r>
              <a:t>Timezone Analytics</a:t>
            </a:r>
          </a:p>
          <a:p>
            <a:br/>
            <a:pPr>
              <a:defRPr sz="1050">
                <a:solidFill>
                  <a:srgbClr val="F87171"/>
                </a:solidFill>
                <a:latin typeface="Inter"/>
              </a:defRPr>
            </a:pPr>
            <a:r>
              <a:t>Challenge:</a:t>
            </a:r>
            <a:br/>
            <a:r>
              <a:t>Mismatched day boundaries caused empty gaps and date inaccuracies in dashboard charts.</a:t>
            </a:r>
          </a:p>
          <a:p>
            <a:br/>
            <a:pPr>
              <a:lnSpc>
                <a:spcPct val="125000"/>
              </a:lnSpc>
              <a:defRPr sz="1050">
                <a:solidFill>
                  <a:srgbClr val="4ADE80"/>
                </a:solidFill>
                <a:latin typeface="Inter"/>
              </a:defRPr>
            </a:pPr>
            <a:r>
              <a:t>Resolution:</a:t>
            </a:r>
            <a:br/>
            <a:r>
              <a:t>Standardized database operations to UTC and implemented dynamic timezone rendering client-side based on browser locations.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502152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737360"/>
            <a:ext cx="32278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  <a:latin typeface="Outfit"/>
              </a:defRPr>
            </a:pPr>
            <a:r>
              <a:t>Tenant Data Isolation</a:t>
            </a:r>
          </a:p>
          <a:p>
            <a:br/>
            <a:pPr>
              <a:defRPr sz="1050">
                <a:solidFill>
                  <a:srgbClr val="F87171"/>
                </a:solidFill>
                <a:latin typeface="Inter"/>
              </a:defRPr>
            </a:pPr>
            <a:r>
              <a:t>Challenge:</a:t>
            </a:r>
            <a:br/>
            <a:r>
              <a:t>Preventing data access crossovers and protecting sensitive sales statistics between store vendors.</a:t>
            </a:r>
          </a:p>
          <a:p>
            <a:br/>
            <a:pPr>
              <a:lnSpc>
                <a:spcPct val="125000"/>
              </a:lnSpc>
              <a:defRPr sz="1050">
                <a:solidFill>
                  <a:srgbClr val="4ADE80"/>
                </a:solidFill>
                <a:latin typeface="Inter"/>
              </a:defRPr>
            </a:pPr>
            <a:r>
              <a:t>Resolution:</a:t>
            </a:r>
            <a:br/>
            <a:r>
              <a:t>Developed custom NestJS guards to intercept incoming routes, verifying authenticated JWT token claims against query tenant targets.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502152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37360"/>
            <a:ext cx="32278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  <a:latin typeface="Outfit"/>
              </a:defRPr>
            </a:pPr>
            <a:r>
              <a:t>Node Environment Path</a:t>
            </a:r>
          </a:p>
          <a:p>
            <a:br/>
            <a:pPr>
              <a:defRPr sz="1050">
                <a:solidFill>
                  <a:srgbClr val="F87171"/>
                </a:solidFill>
                <a:latin typeface="Inter"/>
              </a:defRPr>
            </a:pPr>
            <a:r>
              <a:t>Challenge:</a:t>
            </a:r>
            <a:br/>
            <a:r>
              <a:t>Broken global symlinks on host profiles created server start and build path blockages.</a:t>
            </a:r>
          </a:p>
          <a:p>
            <a:br/>
            <a:pPr>
              <a:lnSpc>
                <a:spcPct val="125000"/>
              </a:lnSpc>
              <a:defRPr sz="1050">
                <a:solidFill>
                  <a:srgbClr val="4ADE80"/>
                </a:solidFill>
                <a:latin typeface="Inter"/>
              </a:defRPr>
            </a:pPr>
            <a:r>
              <a:t>Resolution:</a:t>
            </a:r>
            <a:br/>
            <a:r>
              <a:t>Configured explicit runtime variables in shell profiles to load localized appdata executable runtimes directly.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Outfit"/>
              </a:defRPr>
            </a:pPr>
            <a:r>
              <a:t>Internship Learning Reflections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3657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Inter"/>
              </a:defRPr>
            </a:pPr>
            <a:r>
              <a:t>FOODFLOW 4.1  |  B.Tech AI &amp; ML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Inter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394960" cy="2011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Outfit"/>
              </a:defRPr>
            </a:pPr>
            <a:r>
              <a:t>Enterprise System Architecture</a:t>
            </a:r>
          </a:p>
          <a:p>
            <a:br/>
            <a:pPr>
              <a:lnSpc>
                <a:spcPct val="130000"/>
              </a:lnSpc>
              <a:defRPr sz="1100">
                <a:solidFill>
                  <a:srgbClr val="FFFFFF"/>
                </a:solidFill>
                <a:latin typeface="Inter"/>
              </a:defRPr>
            </a:pPr>
            <a:r>
              <a:t>Gained rich knowledge in designing modular APIs, structuring decoupled databases, and managing robust micro-services with NestJS modules.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94960" cy="2011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  <a:latin typeface="Outfit"/>
              </a:defRPr>
            </a:pPr>
            <a:r>
              <a:t>Real-Time Communications</a:t>
            </a:r>
          </a:p>
          <a:p>
            <a:br/>
            <a:pPr>
              <a:lnSpc>
                <a:spcPct val="130000"/>
              </a:lnSpc>
              <a:defRPr sz="1100">
                <a:solidFill>
                  <a:srgbClr val="FFFFFF"/>
                </a:solidFill>
                <a:latin typeface="Inter"/>
              </a:defRPr>
            </a:pPr>
            <a:r>
              <a:t>Acquired practical skills in configuring WebSockets to transmit live updates and managing multi-client subscription rooms efficiently.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5394960" cy="2011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Outfit"/>
              </a:defRPr>
            </a:pPr>
            <a:r>
              <a:t>External SDK Integrations</a:t>
            </a:r>
          </a:p>
          <a:p>
            <a:br/>
            <a:pPr>
              <a:lnSpc>
                <a:spcPct val="130000"/>
              </a:lnSpc>
              <a:defRPr sz="1100">
                <a:solidFill>
                  <a:srgbClr val="FFFFFF"/>
                </a:solidFill>
                <a:latin typeface="Inter"/>
              </a:defRPr>
            </a:pPr>
            <a:r>
              <a:t>Learned authentication flows (OAuth 2.0, JWT rotative tokens) and third-party systems integrations (Razorpay SDK, Resend mailing API).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394960" cy="2011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Outfit"/>
              </a:defRPr>
            </a:pPr>
            <a:r>
              <a:t>Professional SDLC Pipeline</a:t>
            </a:r>
          </a:p>
          <a:p>
            <a:br/>
            <a:pPr>
              <a:lnSpc>
                <a:spcPct val="130000"/>
              </a:lnSpc>
              <a:defRPr sz="1100">
                <a:solidFill>
                  <a:srgbClr val="FFFFFF"/>
                </a:solidFill>
                <a:latin typeface="Inter"/>
              </a:defRPr>
            </a:pPr>
            <a:r>
              <a:t>Participated in practical developer operations: schema design, script seeding, environment settings isolation, and multi-cloud build pipelines.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Outfit"/>
              </a:defRPr>
            </a:pPr>
            <a:r>
              <a:t>Future Scope &amp; Project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3657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Inter"/>
              </a:defRPr>
            </a:pPr>
            <a:r>
              <a:t>FOODFLOW 4.1  |  B.Tech AI &amp; ML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Inter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Outfit"/>
              </a:defRPr>
            </a:pPr>
            <a:r>
              <a:t>Future Scalability Paths</a:t>
            </a:r>
          </a:p>
          <a:p>
            <a:br/>
            <a:pPr>
              <a:defRPr sz="1300" b="1">
                <a:solidFill>
                  <a:srgbClr val="FFFFFF"/>
                </a:solidFill>
                <a:latin typeface="Inter"/>
              </a:defRPr>
            </a:pPr>
            <a:r>
              <a:t>• AI Recommendations: </a:t>
            </a:r>
          </a:p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Incorporate personalized food item suggestions based on user ratings and ML predictive order models.</a:t>
            </a:r>
          </a:p>
          <a:p>
            <a:br/>
            <a:pPr>
              <a:defRPr sz="1300" b="1">
                <a:solidFill>
                  <a:srgbClr val="FFFFFF"/>
                </a:solidFill>
                <a:latin typeface="Inter"/>
              </a:defRPr>
            </a:pPr>
            <a:r>
              <a:t>• GPS Driver Dispatch: </a:t>
            </a:r>
          </a:p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Develop live mapping tracking using Mapbox to connect delivery agents and track courier paths on maps.</a:t>
            </a:r>
          </a:p>
          <a:p>
            <a:br/>
            <a:pPr>
              <a:defRPr sz="1300" b="1">
                <a:solidFill>
                  <a:srgbClr val="FFFFFF"/>
                </a:solidFill>
                <a:latin typeface="Inter"/>
              </a:defRPr>
            </a:pPr>
            <a:r>
              <a:t>• Subcription Plans: </a:t>
            </a:r>
          </a:p>
          <a:p>
            <a:pPr>
              <a:defRPr sz="1100">
                <a:solidFill>
                  <a:srgbClr val="9CA3AF"/>
                </a:solidFill>
                <a:latin typeface="Inter"/>
              </a:defRPr>
            </a:pPr>
            <a:r>
              <a:t>Offer vendors subscription plans for premium dashboard layouts, shifting from base transaction commission fee margins.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  <a:latin typeface="Outfit"/>
              </a:defRPr>
            </a:pPr>
            <a:r>
              <a:t>FOODFLOW 4.1</a:t>
            </a:r>
          </a:p>
          <a:p>
            <a:br/>
            <a:br/>
            <a:pPr algn="ctr">
              <a:lnSpc>
                <a:spcPct val="130000"/>
              </a:lnSpc>
              <a:defRPr sz="1400">
                <a:solidFill>
                  <a:srgbClr val="FFFFFF"/>
                </a:solidFill>
                <a:latin typeface="Inter"/>
              </a:defRPr>
            </a:pPr>
            <a:r>
              <a:t>Successfully fulfills all B.Tech internship objectives, providing a scalable, secure, and production-ready SaaS food commerce platform.</a:t>
            </a:r>
          </a:p>
          <a:p>
            <a:br/>
            <a:br/>
            <a:pPr algn="ctr">
              <a:defRPr sz="1300" b="1">
                <a:solidFill>
                  <a:srgbClr val="10B981"/>
                </a:solidFill>
                <a:latin typeface="Outfit"/>
              </a:defRPr>
            </a:pPr>
            <a:r>
              <a:t>✔ Deployment &amp; Validation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